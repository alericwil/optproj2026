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6"/>
  </p:notesMasterIdLst>
  <p:handoutMasterIdLst>
    <p:handoutMasterId r:id="rId17"/>
  </p:handoutMasterIdLst>
  <p:sldIdLst>
    <p:sldId id="1519" r:id="rId5"/>
    <p:sldId id="1499" r:id="rId6"/>
    <p:sldId id="1524" r:id="rId7"/>
    <p:sldId id="1525" r:id="rId8"/>
    <p:sldId id="1532" r:id="rId9"/>
    <p:sldId id="1531" r:id="rId10"/>
    <p:sldId id="1526" r:id="rId11"/>
    <p:sldId id="1527" r:id="rId12"/>
    <p:sldId id="1530" r:id="rId13"/>
    <p:sldId id="1528" r:id="rId14"/>
    <p:sldId id="152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23" autoAdjust="0"/>
    <p:restoredTop sz="94618"/>
  </p:normalViewPr>
  <p:slideViewPr>
    <p:cSldViewPr snapToGrid="0">
      <p:cViewPr varScale="1">
        <p:scale>
          <a:sx n="100" d="100"/>
          <a:sy n="100" d="100"/>
        </p:scale>
        <p:origin x="51" y="51"/>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4858189"/>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destinations to one another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B631E-A822-D37A-2B47-BA03657DF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F0F54-0703-0F08-BBAB-172EE377A8CE}"/>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50B6FBBF-D514-CD45-8C27-4630D8737948}"/>
              </a:ext>
            </a:extLst>
          </p:cNvPr>
          <p:cNvSpPr txBox="1"/>
          <p:nvPr/>
        </p:nvSpPr>
        <p:spPr>
          <a:xfrm>
            <a:off x="6843093" y="635001"/>
            <a:ext cx="4273550" cy="3750194"/>
          </a:xfrm>
          <a:prstGeom prst="rect">
            <a:avLst/>
          </a:prstGeom>
          <a:noFill/>
        </p:spPr>
        <p:txBody>
          <a:bodyPr wrap="square" rtlCol="0">
            <a:spAutoFit/>
          </a:bodyPr>
          <a:lstStyle/>
          <a:p>
            <a:pPr>
              <a:lnSpc>
                <a:spcPct val="150000"/>
              </a:lnSpc>
            </a:pPr>
            <a:r>
              <a:rPr lang="en-US" sz="1600" b="1" dirty="0">
                <a:latin typeface="+mj-lt"/>
              </a:rPr>
              <a:t>Algorithms</a:t>
            </a:r>
          </a:p>
          <a:p>
            <a:pPr>
              <a:lnSpc>
                <a:spcPct val="150000"/>
              </a:lnSpc>
            </a:pPr>
            <a:r>
              <a:rPr lang="en-US" sz="1600" dirty="0"/>
              <a:t>Once paths are laid out in the network, the shortest route between destinations is found with Dijkstra’s algorithm.</a:t>
            </a:r>
          </a:p>
          <a:p>
            <a:pPr>
              <a:lnSpc>
                <a:spcPct val="150000"/>
              </a:lnSpc>
            </a:pPr>
            <a:r>
              <a:rPr lang="en-US" sz="1600" b="1" dirty="0">
                <a:latin typeface="+mj-lt"/>
              </a:rPr>
              <a:t>Evaluation and Assumptions</a:t>
            </a:r>
          </a:p>
          <a:p>
            <a:pPr>
              <a:lnSpc>
                <a:spcPct val="150000"/>
              </a:lnSpc>
            </a:pPr>
            <a:r>
              <a:rPr lang="en-US" sz="1600" dirty="0"/>
              <a:t>The network of paths does not attempt to be aesthetic or model the broader flow of campus traffic in any way.</a:t>
            </a:r>
          </a:p>
          <a:p>
            <a:pPr>
              <a:lnSpc>
                <a:spcPct val="150000"/>
              </a:lnSpc>
            </a:pPr>
            <a:r>
              <a:rPr lang="en-US" sz="1600" dirty="0"/>
              <a:t>Every pair of destinations has the same traffic volume as any other</a:t>
            </a:r>
          </a:p>
        </p:txBody>
      </p:sp>
      <p:pic>
        <p:nvPicPr>
          <p:cNvPr id="19" name="Picture 18">
            <a:extLst>
              <a:ext uri="{FF2B5EF4-FFF2-40B4-BE49-F238E27FC236}">
                <a16:creationId xmlns:a16="http://schemas.microsoft.com/office/drawing/2014/main" id="{5EE5681A-3EC4-DD0E-ADA2-5191A775E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070743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length of all routes between destinations as our primary objective, and the total amount of paved pathway used to do so as our secondary objective.</a:t>
            </a:r>
          </a:p>
          <a:p>
            <a:pPr marL="0" indent="0">
              <a:spcBef>
                <a:spcPts val="1200"/>
              </a:spcBef>
              <a:spcAft>
                <a:spcPts val="1200"/>
              </a:spcAft>
              <a:buNone/>
            </a:pPr>
            <a:r>
              <a:rPr lang="en-US" dirty="0"/>
              <a:t>We balanced these two objectives with a simple weighted sum (i.e. 1.5x more sensitive to time than paving cost).</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mc:AlternateContent xmlns:mc="http://schemas.openxmlformats.org/markup-compatibility/2006" xmlns:p14="http://schemas.microsoft.com/office/powerpoint/2010/main">
    <mc:Choice Requires="p14">
      <p:transition spd="slow" p14:dur="2000" advTm="3106"/>
    </mc:Choice>
    <mc:Fallback xmlns="">
      <p:transition spd="slow" advTm="310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 (prelim)</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lnSpcReduction="10000"/>
          </a:bodyPr>
          <a:lstStyle/>
          <a:p>
            <a:pPr marL="0" indent="0">
              <a:spcBef>
                <a:spcPts val="1200"/>
              </a:spcBef>
              <a:spcAft>
                <a:spcPts val="1200"/>
              </a:spcAft>
              <a:buNone/>
            </a:pPr>
            <a:r>
              <a:rPr lang="en-US" b="1" dirty="0">
                <a:latin typeface="+mj-lt"/>
              </a:rPr>
              <a:t>Optimizer Exploitations</a:t>
            </a:r>
            <a:br>
              <a:rPr lang="en-US" dirty="0"/>
            </a:br>
            <a:r>
              <a:rPr lang="en-US" dirty="0"/>
              <a:t>Walkways inside buildings cost nothing to build, so our results tended to favor ‘building hopping’ when targeting low-budget layouts.</a:t>
            </a:r>
          </a:p>
          <a:p>
            <a:pPr marL="0" indent="0">
              <a:spcBef>
                <a:spcPts val="1200"/>
              </a:spcBef>
              <a:spcAft>
                <a:spcPts val="1200"/>
              </a:spcAft>
              <a:buNone/>
            </a:pPr>
            <a:r>
              <a:rPr lang="en-US" b="1" dirty="0">
                <a:latin typeface="+mj-lt"/>
              </a:rPr>
              <a:t>Optimizer Limitations</a:t>
            </a:r>
            <a:br>
              <a:rPr lang="en-US" dirty="0"/>
            </a:br>
            <a:r>
              <a:rPr lang="en-US" dirty="0"/>
              <a:t>Destinations beyond this small map were not included, and traffic flow between each destination pair was considered equal.</a:t>
            </a:r>
          </a:p>
          <a:p>
            <a:pPr marL="0" indent="0">
              <a:spcBef>
                <a:spcPts val="1200"/>
              </a:spcBef>
              <a:spcAft>
                <a:spcPts val="1200"/>
              </a:spcAft>
              <a:buNone/>
            </a:pPr>
            <a:r>
              <a:rPr lang="en-US" dirty="0"/>
              <a:t>Annealing also struggled to make large enough steps required to properly explore the space and make improvements. It is difficult to blindly make a better network with sequential neighbors.</a:t>
            </a:r>
            <a:br>
              <a:rPr lang="en-US" dirty="0"/>
            </a:br>
            <a:br>
              <a:rPr lang="en-US" dirty="0"/>
            </a:br>
            <a:r>
              <a:rPr lang="en-US" b="1" dirty="0">
                <a:latin typeface="+mj-lt"/>
              </a:rPr>
              <a:t>Performance</a:t>
            </a:r>
            <a:br>
              <a:rPr lang="en-US" dirty="0">
                <a:solidFill>
                  <a:srgbClr val="FFFFFF"/>
                </a:solidFill>
                <a:cs typeface="Segoe UI"/>
              </a:rPr>
            </a:br>
            <a:r>
              <a:rPr lang="en-US" dirty="0">
                <a:solidFill>
                  <a:srgbClr val="FFFFFF"/>
                </a:solidFill>
                <a:cs typeface="Segoe UI"/>
              </a:rPr>
              <a:t>The algorithm ran remarkably fast (about 3 seconds for 500 iterations), thanks to excellent data structures and code formatting.</a:t>
            </a:r>
            <a:endParaRPr lang="en-US" dirty="0"/>
          </a:p>
        </p:txBody>
      </p:sp>
    </p:spTree>
    <p:extLst>
      <p:ext uri="{BB962C8B-B14F-4D97-AF65-F5344CB8AC3E}">
        <p14:creationId xmlns:p14="http://schemas.microsoft.com/office/powerpoint/2010/main" val="3563305726"/>
      </p:ext>
    </p:extLst>
  </p:cSld>
  <p:clrMapOvr>
    <a:masterClrMapping/>
  </p:clrMapOvr>
  <mc:AlternateContent xmlns:mc="http://schemas.openxmlformats.org/markup-compatibility/2006" xmlns:p14="http://schemas.microsoft.com/office/powerpoint/2010/main">
    <mc:Choice Requires="p14">
      <p:transition spd="slow" p14:dur="2000" advTm="2261"/>
    </mc:Choice>
    <mc:Fallback xmlns="">
      <p:transition spd="slow" advTm="226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Takeaways</a:t>
            </a:r>
            <a:br>
              <a:rPr lang="en-US" dirty="0"/>
            </a:br>
            <a:r>
              <a:rPr lang="en-US" dirty="0"/>
              <a:t>Though the simulation of campus walkways lacked the full fidelity to be useful in real application, setting up and exploring the problem in optimization yielded excellent experience for future work in the field.</a:t>
            </a:r>
          </a:p>
          <a:p>
            <a:pPr marL="0" indent="0">
              <a:spcBef>
                <a:spcPts val="1200"/>
              </a:spcBef>
              <a:spcAft>
                <a:spcPts val="1200"/>
              </a:spcAft>
              <a:buNone/>
            </a:pPr>
            <a:r>
              <a:rPr lang="en-US" dirty="0"/>
              <a:t>Building the entire changeable map and network of points and paths was a more time-consuming endeavor than anticipated.</a:t>
            </a:r>
          </a:p>
          <a:p>
            <a:pPr marL="0" indent="0">
              <a:spcBef>
                <a:spcPts val="1200"/>
              </a:spcBef>
              <a:spcAft>
                <a:spcPts val="1200"/>
              </a:spcAft>
              <a:buNone/>
            </a:pPr>
            <a:r>
              <a:rPr lang="en-US" b="1" dirty="0">
                <a:latin typeface="+mj-lt"/>
              </a:rPr>
              <a:t>Two</a:t>
            </a:r>
            <a:br>
              <a:rPr lang="en-US" dirty="0"/>
            </a:br>
            <a:r>
              <a:rPr lang="en-US" dirty="0"/>
              <a:t>two</a:t>
            </a:r>
            <a:br>
              <a:rPr lang="en-US" dirty="0"/>
            </a:br>
            <a:br>
              <a:rPr lang="en-US" dirty="0"/>
            </a:br>
            <a:r>
              <a:rPr lang="en-US" b="1" dirty="0">
                <a:latin typeface="+mj-lt"/>
              </a:rPr>
              <a:t>Three</a:t>
            </a:r>
            <a:br>
              <a:rPr lang="en-US" dirty="0">
                <a:solidFill>
                  <a:srgbClr val="FFFFFF"/>
                </a:solidFill>
                <a:cs typeface="Segoe UI"/>
              </a:rPr>
            </a:br>
            <a:r>
              <a:rPr lang="en-US" dirty="0"/>
              <a:t>three</a:t>
            </a:r>
          </a:p>
        </p:txBody>
      </p:sp>
      <p:pic>
        <p:nvPicPr>
          <p:cNvPr id="7" name="Picture 6">
            <a:extLst>
              <a:ext uri="{FF2B5EF4-FFF2-40B4-BE49-F238E27FC236}">
                <a16:creationId xmlns:a16="http://schemas.microsoft.com/office/drawing/2014/main" id="{CE28A3CD-C414-214C-E367-5458F4605AAC}"/>
              </a:ext>
            </a:extLst>
          </p:cNvPr>
          <p:cNvPicPr>
            <a:picLocks noChangeAspect="1"/>
          </p:cNvPicPr>
          <p:nvPr/>
        </p:nvPicPr>
        <p:blipFill>
          <a:blip r:embed="rId2">
            <a:extLst>
              <a:ext uri="{28A0092B-C50C-407E-A947-70E740481C1C}">
                <a14:useLocalDpi xmlns:a14="http://schemas.microsoft.com/office/drawing/2010/main" val="0"/>
              </a:ext>
            </a:extLst>
          </a:blip>
          <a:srcRect l="16725" t="2468" r="14036" b="14850"/>
          <a:stretch>
            <a:fillRect/>
          </a:stretch>
        </p:blipFill>
        <p:spPr>
          <a:xfrm>
            <a:off x="1020422" y="389793"/>
            <a:ext cx="5260924" cy="4711750"/>
          </a:xfrm>
          <a:prstGeom prst="rect">
            <a:avLst/>
          </a:prstGeom>
        </p:spPr>
      </p:pic>
    </p:spTree>
    <p:extLst>
      <p:ext uri="{BB962C8B-B14F-4D97-AF65-F5344CB8AC3E}">
        <p14:creationId xmlns:p14="http://schemas.microsoft.com/office/powerpoint/2010/main" val="2331577274"/>
      </p:ext>
    </p:extLst>
  </p:cSld>
  <p:clrMapOvr>
    <a:masterClrMapping/>
  </p:clrMapOvr>
  <mc:AlternateContent xmlns:mc="http://schemas.openxmlformats.org/markup-compatibility/2006" xmlns:p14="http://schemas.microsoft.com/office/powerpoint/2010/main">
    <mc:Choice Requires="p14">
      <p:transition spd="slow" p14:dur="2000" advTm="3495"/>
    </mc:Choice>
    <mc:Fallback xmlns="">
      <p:transition spd="slow" advTm="3495"/>
    </mc:Fallback>
  </mc:AlternateContent>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540</TotalTime>
  <Words>660</Words>
  <Application>Microsoft Office PowerPoint</Application>
  <PresentationFormat>Widescreen</PresentationFormat>
  <Paragraphs>47</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Modeling and Definitions</vt:lpstr>
      <vt:lpstr>optimization</vt:lpstr>
      <vt:lpstr>Simulated Annealing</vt:lpstr>
      <vt:lpstr>Simulated Annealing</vt:lpstr>
      <vt:lpstr>Results</vt:lpstr>
      <vt:lpstr>Results (prelim)</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Alex Wiliams</cp:lastModifiedBy>
  <cp:revision>7</cp:revision>
  <dcterms:created xsi:type="dcterms:W3CDTF">2026-04-13T15:41:25Z</dcterms:created>
  <dcterms:modified xsi:type="dcterms:W3CDTF">2026-04-14T02:32:22Z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